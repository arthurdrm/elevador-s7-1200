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731520"/>
            <a:ext cx="5669280" cy="384048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SENAI • SISTEMAS LÓGICOS PROGRAMÁVEIS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EXERCÍCIO PRÁTICO: ELEVADOR INDUSTRIAL</a:t>
            </a:r>
          </a:p>
          <a:p>
            <a:pPr>
              <a:defRPr sz="2000">
                <a:solidFill>
                  <a:srgbClr val="94A3B8"/>
                </a:solidFill>
              </a:defRPr>
            </a:pPr>
            <a:r>
              <a:t>Automação e Controle de Elevador de Carga (2 Pavimentos) em CLP Siemens S7-1200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2423160" cy="22860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0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375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82"/>
                </a:solidFill>
              </a:defRPr>
            </a:pPr>
            <a:r>
              <a:t>CONTROLADOR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Siemens SIMATIC S7-1200</a:t>
            </a:r>
            <a:br/>
            <a:r>
              <a:t>TIA Portal (Ladder / SCL)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57016" y="3108960"/>
            <a:ext cx="2423160" cy="22860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39896" y="33375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CA9"/>
                </a:solidFill>
              </a:defRPr>
            </a:pPr>
            <a:r>
              <a:t>PLANTA FABRIL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Indústria AutoControl</a:t>
            </a:r>
            <a:br/>
            <a:r>
              <a:t>Logística Térreo / Acabamento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108960"/>
            <a:ext cx="2423160" cy="22860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D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33375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5A00"/>
                </a:solidFill>
              </a:defRPr>
            </a:pPr>
            <a:r>
              <a:t>SEGURANÇA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Intertravamento NR-12</a:t>
            </a:r>
            <a:br/>
            <a:r>
              <a:t>Fins de Curso NF &amp; 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42248" y="3108960"/>
            <a:ext cx="2423160" cy="22860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5128" y="3337560"/>
            <a:ext cx="2057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SUPERVISÓRIO</a:t>
            </a:r>
          </a:p>
          <a:p>
            <a:br/>
            <a:pPr>
              <a:defRPr sz="1300">
                <a:solidFill>
                  <a:srgbClr val="E2E8F0"/>
                </a:solidFill>
              </a:defRPr>
            </a:pPr>
            <a:r>
              <a:t>Simulador Interativo SCADA</a:t>
            </a:r>
            <a:br/>
            <a:r>
              <a:t>Física em Tempo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Docente: Prof. Arthur Dornelas | Laboratório de Automação Industrial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A PLANTA FABRIL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Logística de Cargas entre Pavimentos (AutoControl)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CA9"/>
                </a:solidFill>
              </a:defRPr>
            </a:pPr>
            <a:r>
              <a:t>Cenário da Fábrica de Calçados</a:t>
            </a:r>
          </a:p>
          <a:p>
            <a:r>
              <a:rPr b="1" sz="1250">
                <a:solidFill>
                  <a:srgbClr val="0F172A"/>
                </a:solidFill>
              </a:rPr>
              <a:t>• Edificação de 2 Andares:</a:t>
            </a:r>
            <a:r>
              <a:rPr sz="1250">
                <a:solidFill>
                  <a:srgbClr val="475569"/>
                </a:solidFill>
              </a:rPr>
              <a:t> O térreo abriga a expedição e estoque de matéria-prima (couros e solados); o 2º pavimento abriga a linha de montagem e acabamento.</a:t>
            </a:r>
          </a:p>
          <a:p>
            <a:r>
              <a:rPr b="1" sz="1250">
                <a:solidFill>
                  <a:srgbClr val="0F172A"/>
                </a:solidFill>
              </a:rPr>
              <a:t>• Mecanismo de Tração:</a:t>
            </a:r>
            <a:r>
              <a:rPr sz="1250">
                <a:solidFill>
                  <a:srgbClr val="475569"/>
                </a:solidFill>
              </a:rPr>
              <a:t> Motorredutor elétrico trifásico comandado por contatoras reversoras acionadas pelo CLP S7-1200:</a:t>
            </a:r>
          </a:p>
          <a:p>
            <a:r>
              <a:rPr b="1" sz="1250">
                <a:solidFill>
                  <a:srgbClr val="0F172A"/>
                </a:solidFill>
              </a:rPr>
              <a:t>   - Subir (Sentido Horário):</a:t>
            </a:r>
            <a:r>
              <a:rPr sz="1250">
                <a:solidFill>
                  <a:srgbClr val="475569"/>
                </a:solidFill>
              </a:rPr>
              <a:t> Saída %Q0.0 (Motor_1_sobe)</a:t>
            </a:r>
          </a:p>
          <a:p>
            <a:r>
              <a:rPr b="1" sz="1250">
                <a:solidFill>
                  <a:srgbClr val="0F172A"/>
                </a:solidFill>
              </a:rPr>
              <a:t>   - Descer (Sentido Anti-horário):</a:t>
            </a:r>
            <a:r>
              <a:rPr sz="1250">
                <a:solidFill>
                  <a:srgbClr val="475569"/>
                </a:solidFill>
              </a:rPr>
              <a:t> Saída %Q0.1 (Motor_1_desce)</a:t>
            </a:r>
          </a:p>
          <a:p>
            <a:r>
              <a:rPr b="1" sz="1250">
                <a:solidFill>
                  <a:srgbClr val="0F172A"/>
                </a:solidFill>
              </a:rPr>
              <a:t>• Painéis de Comando:</a:t>
            </a:r>
            <a:r>
              <a:rPr sz="1250">
                <a:solidFill>
                  <a:srgbClr val="475569"/>
                </a:solidFill>
              </a:rPr>
              <a:t> Botoeiras externas instaladas ao lado das portas em cada pavimento para envio e chamada da cabine.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882"/>
                </a:solidFill>
              </a:defRPr>
            </a:pPr>
            <a:r>
              <a:t>Objetivos do Exercício</a:t>
            </a:r>
          </a:p>
          <a:p>
            <a:r>
              <a:rPr b="1" sz="1300">
                <a:solidFill>
                  <a:srgbClr val="0F172A"/>
                </a:solidFill>
              </a:rPr>
              <a:t>• Desenvolver a Lógica de Controle:</a:t>
            </a:r>
            <a:r>
              <a:rPr sz="1300">
                <a:solidFill>
                  <a:srgbClr val="475569"/>
                </a:solidFill>
              </a:rPr>
              <a:t> Estruturar o programa no TIA Portal (Ladder ou SCL) para controlar a cabine, portas e trancas com estabilidade.</a:t>
            </a:r>
          </a:p>
          <a:p>
            <a:r>
              <a:rPr b="1" sz="1300">
                <a:solidFill>
                  <a:srgbClr val="0F172A"/>
                </a:solidFill>
              </a:rPr>
              <a:t>• Garantir Segurança Intrínseca (NR-12):</a:t>
            </a:r>
            <a:r>
              <a:rPr sz="1300">
                <a:solidFill>
                  <a:srgbClr val="475569"/>
                </a:solidFill>
              </a:rPr>
              <a:t> Portas só abrem se o elevador estiver rigorosamente nivelado e parado no piso.</a:t>
            </a:r>
          </a:p>
          <a:p>
            <a:r>
              <a:rPr b="1" sz="1300">
                <a:solidFill>
                  <a:srgbClr val="0F172A"/>
                </a:solidFill>
              </a:rPr>
              <a:t>• Intertravamento Reversor:</a:t>
            </a:r>
            <a:r>
              <a:rPr sz="1300">
                <a:solidFill>
                  <a:srgbClr val="475569"/>
                </a:solidFill>
              </a:rPr>
              <a:t> Impedir acionamento simultâneo de subida e descida.</a:t>
            </a:r>
          </a:p>
          <a:p>
            <a:r>
              <a:rPr b="1" sz="1300">
                <a:solidFill>
                  <a:srgbClr val="0F172A"/>
                </a:solidFill>
              </a:rPr>
              <a:t>• Simulação SCADA:</a:t>
            </a:r>
            <a:r>
              <a:rPr sz="1300">
                <a:solidFill>
                  <a:srgbClr val="475569"/>
                </a:solidFill>
              </a:rPr>
              <a:t> Validar o projeto no simulador interativo antes do comissionamento na bancada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HARDWARE &amp; TABELA DE I/O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Mapeamento das Entradas e Saídas no Siemens S7-1200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676656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6400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5CA9"/>
                </a:solidFill>
              </a:defRPr>
            </a:pPr>
            <a:r>
              <a:t>Tabela Oficial de I/O (Siemens S7-1200)</a:t>
            </a:r>
          </a:p>
          <a:p>
            <a:r>
              <a:rPr b="1" sz="1050">
                <a:solidFill>
                  <a:srgbClr val="007882"/>
                </a:solidFill>
              </a:rPr>
              <a:t>%I0.0  </a:t>
            </a:r>
            <a:r>
              <a:rPr b="1" sz="1050">
                <a:solidFill>
                  <a:srgbClr val="0F172A"/>
                </a:solidFill>
              </a:rPr>
              <a:t>[Botao_sobe_1] </a:t>
            </a:r>
            <a:r>
              <a:rPr sz="1050">
                <a:solidFill>
                  <a:srgbClr val="475569"/>
                </a:solidFill>
              </a:rPr>
              <a:t>- Comando de subida no 1º Piso (Pulso NA)</a:t>
            </a:r>
          </a:p>
          <a:p>
            <a:r>
              <a:rPr b="1" sz="1050">
                <a:solidFill>
                  <a:srgbClr val="007882"/>
                </a:solidFill>
              </a:rPr>
              <a:t>%I0.1  </a:t>
            </a:r>
            <a:r>
              <a:rPr b="1" sz="1050">
                <a:solidFill>
                  <a:srgbClr val="0F172A"/>
                </a:solidFill>
              </a:rPr>
              <a:t>[Botao_desce_1] </a:t>
            </a:r>
            <a:r>
              <a:rPr sz="1050">
                <a:solidFill>
                  <a:srgbClr val="475569"/>
                </a:solidFill>
              </a:rPr>
              <a:t>- Comando de descida / chamada no 1º Piso (Pulso NA)</a:t>
            </a:r>
          </a:p>
          <a:p>
            <a:r>
              <a:rPr b="1" sz="1050">
                <a:solidFill>
                  <a:srgbClr val="007882"/>
                </a:solidFill>
              </a:rPr>
              <a:t>%I0.2  </a:t>
            </a:r>
            <a:r>
              <a:rPr b="1" sz="1050">
                <a:solidFill>
                  <a:srgbClr val="0F172A"/>
                </a:solidFill>
              </a:rPr>
              <a:t>[Fim_de_curso_da_cabine_1] </a:t>
            </a:r>
            <a:r>
              <a:rPr sz="1050">
                <a:solidFill>
                  <a:srgbClr val="475569"/>
                </a:solidFill>
              </a:rPr>
              <a:t>- Detecta cabine no 1º Piso (Abre ao nivelar!) (Fim de Curso NF (N.C.))</a:t>
            </a:r>
          </a:p>
          <a:p>
            <a:r>
              <a:rPr b="1" sz="1050">
                <a:solidFill>
                  <a:srgbClr val="007882"/>
                </a:solidFill>
              </a:rPr>
              <a:t>%I0.3  </a:t>
            </a:r>
            <a:r>
              <a:rPr b="1" sz="1050">
                <a:solidFill>
                  <a:srgbClr val="0F172A"/>
                </a:solidFill>
              </a:rPr>
              <a:t>[Fim_de_curso_da_porta_1] </a:t>
            </a:r>
            <a:r>
              <a:rPr sz="1050">
                <a:solidFill>
                  <a:srgbClr val="475569"/>
                </a:solidFill>
              </a:rPr>
              <a:t>- Detecta porta do 1º Piso fechada (Fim de Curso NA (N.O.))</a:t>
            </a:r>
          </a:p>
          <a:p>
            <a:r>
              <a:rPr b="1" sz="1050">
                <a:solidFill>
                  <a:srgbClr val="007882"/>
                </a:solidFill>
              </a:rPr>
              <a:t>%I0.4  </a:t>
            </a:r>
            <a:r>
              <a:rPr b="1" sz="1050">
                <a:solidFill>
                  <a:srgbClr val="0F172A"/>
                </a:solidFill>
              </a:rPr>
              <a:t>[Botao_sobe_2] </a:t>
            </a:r>
            <a:r>
              <a:rPr sz="1050">
                <a:solidFill>
                  <a:srgbClr val="475569"/>
                </a:solidFill>
              </a:rPr>
              <a:t>- Comando de subida / chamada no 2º Piso (Pulso NA)</a:t>
            </a:r>
          </a:p>
          <a:p>
            <a:r>
              <a:rPr b="1" sz="1050">
                <a:solidFill>
                  <a:srgbClr val="007882"/>
                </a:solidFill>
              </a:rPr>
              <a:t>%I0.5  </a:t>
            </a:r>
            <a:r>
              <a:rPr b="1" sz="1050">
                <a:solidFill>
                  <a:srgbClr val="0F172A"/>
                </a:solidFill>
              </a:rPr>
              <a:t>[Botao_desce_2] </a:t>
            </a:r>
            <a:r>
              <a:rPr sz="1050">
                <a:solidFill>
                  <a:srgbClr val="475569"/>
                </a:solidFill>
              </a:rPr>
              <a:t>- Comando de descida no 2º Piso (Pulso NA)</a:t>
            </a:r>
          </a:p>
          <a:p>
            <a:r>
              <a:rPr b="1" sz="1050">
                <a:solidFill>
                  <a:srgbClr val="007882"/>
                </a:solidFill>
              </a:rPr>
              <a:t>%I0.6  </a:t>
            </a:r>
            <a:r>
              <a:rPr b="1" sz="1050">
                <a:solidFill>
                  <a:srgbClr val="0F172A"/>
                </a:solidFill>
              </a:rPr>
              <a:t>[Fim_de_curso_da_cabine_2] </a:t>
            </a:r>
            <a:r>
              <a:rPr sz="1050">
                <a:solidFill>
                  <a:srgbClr val="475569"/>
                </a:solidFill>
              </a:rPr>
              <a:t>- Detecta cabine no 2º Piso (Abre ao nivelar!) (Fim de Curso NF (N.C.))</a:t>
            </a:r>
          </a:p>
          <a:p>
            <a:r>
              <a:rPr b="1" sz="1050">
                <a:solidFill>
                  <a:srgbClr val="007882"/>
                </a:solidFill>
              </a:rPr>
              <a:t>%I0.7  </a:t>
            </a:r>
            <a:r>
              <a:rPr b="1" sz="1050">
                <a:solidFill>
                  <a:srgbClr val="0F172A"/>
                </a:solidFill>
              </a:rPr>
              <a:t>[Fim_de_curso_da_porta_2] </a:t>
            </a:r>
            <a:r>
              <a:rPr sz="1050">
                <a:solidFill>
                  <a:srgbClr val="475569"/>
                </a:solidFill>
              </a:rPr>
              <a:t>- Detecta porta do 2º Piso fechada (Fim de Curso NA (N.O.))</a:t>
            </a:r>
          </a:p>
          <a:p>
            <a:r>
              <a:rPr b="1" sz="1050">
                <a:solidFill>
                  <a:srgbClr val="DC5A00"/>
                </a:solidFill>
              </a:rPr>
              <a:t>%Q0.0  </a:t>
            </a:r>
            <a:r>
              <a:rPr b="1" sz="1050">
                <a:solidFill>
                  <a:srgbClr val="0F172A"/>
                </a:solidFill>
              </a:rPr>
              <a:t>[Motor_1_sobe] </a:t>
            </a:r>
            <a:r>
              <a:rPr sz="1050">
                <a:solidFill>
                  <a:srgbClr val="475569"/>
                </a:solidFill>
              </a:rPr>
              <a:t>- Traciona o motor para subir (Contator K1)</a:t>
            </a:r>
          </a:p>
          <a:p>
            <a:r>
              <a:rPr b="1" sz="1050">
                <a:solidFill>
                  <a:srgbClr val="DC5A00"/>
                </a:solidFill>
              </a:rPr>
              <a:t>%Q0.1  </a:t>
            </a:r>
            <a:r>
              <a:rPr b="1" sz="1050">
                <a:solidFill>
                  <a:srgbClr val="0F172A"/>
                </a:solidFill>
              </a:rPr>
              <a:t>[Motor_1_desce] </a:t>
            </a:r>
            <a:r>
              <a:rPr sz="1050">
                <a:solidFill>
                  <a:srgbClr val="475569"/>
                </a:solidFill>
              </a:rPr>
              <a:t>- Traciona o motor para descer (Contator K2)</a:t>
            </a:r>
          </a:p>
          <a:p>
            <a:r>
              <a:rPr b="1" sz="1050">
                <a:solidFill>
                  <a:srgbClr val="DC5A00"/>
                </a:solidFill>
              </a:rPr>
              <a:t>%Q0.2  </a:t>
            </a:r>
            <a:r>
              <a:rPr b="1" sz="1050">
                <a:solidFill>
                  <a:srgbClr val="0F172A"/>
                </a:solidFill>
              </a:rPr>
              <a:t>[Tranca_1] </a:t>
            </a:r>
            <a:r>
              <a:rPr sz="1050">
                <a:solidFill>
                  <a:srgbClr val="475569"/>
                </a:solidFill>
              </a:rPr>
              <a:t>- 1 = Porta 1 Trancada | 0 = Destrancada (Eletroímã)</a:t>
            </a:r>
          </a:p>
          <a:p>
            <a:r>
              <a:rPr b="1" sz="1050">
                <a:solidFill>
                  <a:srgbClr val="DC5A00"/>
                </a:solidFill>
              </a:rPr>
              <a:t>%Q0.3  </a:t>
            </a:r>
            <a:r>
              <a:rPr b="1" sz="1050">
                <a:solidFill>
                  <a:srgbClr val="0F172A"/>
                </a:solidFill>
              </a:rPr>
              <a:t>[Tranca_2] </a:t>
            </a:r>
            <a:r>
              <a:rPr sz="1050">
                <a:solidFill>
                  <a:srgbClr val="475569"/>
                </a:solidFill>
              </a:rPr>
              <a:t>- 1 = Porta 2 Trancada | 0 = Destrancada (Eletroímã)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08760"/>
            <a:ext cx="3657600" cy="475488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D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169164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DC5A00"/>
                </a:solidFill>
              </a:defRPr>
            </a:pPr>
            <a:r>
              <a:t>⚠️ ATENÇÃO: FINS DE CURSO NF!</a:t>
            </a:r>
          </a:p>
          <a:p>
            <a:r>
              <a:rPr b="1" sz="1100">
                <a:solidFill>
                  <a:srgbClr val="0F172A"/>
                </a:solidFill>
              </a:rPr>
              <a:t>
Conceito de Fail-Safe (NR-12):
</a:t>
            </a:r>
            <a:r>
              <a:rPr sz="1100">
                <a:solidFill>
                  <a:srgbClr val="475569"/>
                </a:solidFill>
              </a:rPr>
              <a:t>Os sensores de nivelamento da cabine (%I0.2 e %I0.6) usam contato Normalmente Fechado (NF). Se um cabo romper, o CLP detecta ausência de sinal imediatamente.</a:t>
            </a:r>
          </a:p>
          <a:p>
            <a:r>
              <a:rPr b="1" sz="1100">
                <a:solidFill>
                  <a:srgbClr val="0F172A"/>
                </a:solidFill>
              </a:rPr>
              <a:t>
Comportamento Elétrico:
</a:t>
            </a:r>
            <a:r>
              <a:rPr sz="1100">
                <a:solidFill>
                  <a:srgbClr val="475569"/>
                </a:solidFill>
              </a:rPr>
              <a:t>• Cabine FORA do andar: contato fechado -&gt; %I = 1 (24 Vcc).
• Cabine NO andar: chave abre -&gt; %I = 0 (0 Vcc).</a:t>
            </a:r>
          </a:p>
          <a:p>
            <a:r>
              <a:rPr b="1" sz="1100">
                <a:solidFill>
                  <a:srgbClr val="0F172A"/>
                </a:solidFill>
              </a:rPr>
              <a:t>
Atenção na Programação:
</a:t>
            </a:r>
            <a:r>
              <a:rPr sz="1100">
                <a:solidFill>
                  <a:srgbClr val="475569"/>
                </a:solidFill>
              </a:rPr>
              <a:t>Para verificar 'cabine no piso 1', você deve testar o nível baixo (NOT %I0.2 ou contato NF no Ladder)!</a:t>
            </a:r>
          </a:p>
          <a:p>
            <a:r>
              <a:rPr b="1" sz="1100">
                <a:solidFill>
                  <a:srgbClr val="0F172A"/>
                </a:solidFill>
              </a:rPr>
              <a:t>
Trancas Magnéticas:
</a:t>
            </a:r>
            <a:r>
              <a:rPr sz="1100">
                <a:solidFill>
                  <a:srgbClr val="475569"/>
                </a:solidFill>
              </a:rPr>
              <a:t>Sinal 1 = Eletroímã energizado (porta trancada). Sinal 0 = Desenergizado (porta destrancada).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SEGURANÇA OPERACIONAL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Regras de Ouro de Intertravamento (NR-12)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5CA9"/>
                </a:solidFill>
              </a:defRPr>
            </a:pPr>
            <a:r>
              <a:t>1. TRAVAMENTO DE PORTAS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Proteção contra Quedas e Esmagamento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Sempre que o elevador estiver em movimento, AMBAS as portas (%Q0.2 e %Q0.3) DEVEM estar energizadas e trancadas.</a:t>
            </a:r>
            <a:br/>
            <a:br/>
            <a:r>
              <a:t>• Apenas a porta do pavimento onde a cabine estiver 100% nivelada e com motor desligado pode ser destrancada.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C5A00"/>
                </a:solidFill>
              </a:defRPr>
            </a:pPr>
            <a:r>
              <a:t>2. PARTIDA DO MOTOR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Intertravamento das Portas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O motorredutor JAMAIS poderá ser acionado se qualquer porta estiver aberta (%I0.3 = 0 ou %I0.7 = 0).</a:t>
            </a:r>
            <a:br/>
            <a:br/>
            <a:r>
              <a:t>• Se qualquer porta for aberta durante o deslocamento, o motor deve PARAR INSTANTANEAMENTE por proteção de emergência.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08760"/>
            <a:ext cx="3383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3736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7882"/>
                </a:solidFill>
              </a:defRPr>
            </a:pPr>
            <a:r>
              <a:t>3. INTERTRAVAMENTO DE DIREÇÃO</a:t>
            </a:r>
          </a:p>
          <a:p>
            <a:pPr>
              <a:defRPr sz="1200" b="1">
                <a:solidFill>
                  <a:srgbClr val="0F172A"/>
                </a:solidFill>
              </a:defRPr>
            </a:pPr>
            <a:r>
              <a:t>Proteção Elétrica dos Contatores</a:t>
            </a:r>
          </a:p>
          <a:p>
            <a:br/>
            <a:pPr>
              <a:defRPr sz="1200">
                <a:solidFill>
                  <a:srgbClr val="475569"/>
                </a:solidFill>
              </a:defRPr>
            </a:pPr>
            <a:r>
              <a:t>• É proibido ligar Motor_sobe (%Q0.0) e Motor_desce (%Q0.1) simultaneamente (causaria curto-circuito trifásico direto).</a:t>
            </a:r>
            <a:br/>
            <a:br/>
            <a:r>
              <a:t>• A lógica deve possuir trava cruzada via contatos NF cruzados no Ladder/SCL.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MODOS DE OPERAÇÃO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Os 4 Cenários Operacionais do Elevador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CA9"/>
                </a:solidFill>
              </a:defRPr>
            </a:pPr>
            <a:r>
              <a:t>MODO 1: Comando Local no 1º Piso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Elevador parado no 1º piso: Apertar 'Desce 1' -&gt; Comando ignorado (motor não aciona).</a:t>
            </a:r>
            <a:br/>
            <a:r>
              <a:t>• Porta 1 permanece destrancada (%Q0.2 = 0).</a:t>
            </a:r>
            <a:br/>
            <a:r>
              <a:t>• Portas fechadas e apertar 'Sobe 1' -&gt; Tranca ambas as portas (%Q0.2=%Q0.3=1) e sobe até o 2º piso, destrancando a Porta 2 ao nivelar.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0876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5CA9"/>
                </a:solidFill>
              </a:defRPr>
            </a:pPr>
            <a:r>
              <a:t>MODO 2: Comando Local no 2º Piso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Elevador parado no 2º piso: Apertar 'Sobe 2' -&gt; Comando ignorado (motor não aciona).</a:t>
            </a:r>
            <a:br/>
            <a:r>
              <a:t>• Porta 2 permanece destrancada (%Q0.3 = 0).</a:t>
            </a:r>
            <a:br/>
            <a:r>
              <a:t>• Portas fechadas e apertar 'Desce 2' -&gt; Tranca ambas as portas (%Q0.2=%Q0.3=1) e desce até o 1º piso, destrancando a Porta 1 ao nivelar.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82"/>
                </a:solidFill>
              </a:defRPr>
            </a:pPr>
            <a:r>
              <a:t>MODO 3: Chamada Externa para o 2º Piso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Elevador parado no 1º piso com portas fechadas.</a:t>
            </a:r>
            <a:br/>
            <a:r>
              <a:t>• Pressionar 'Botão Sobe 2' (%I0.4) no painel do 2º andar (chamada externa).</a:t>
            </a:r>
            <a:br/>
            <a:r>
              <a:t>• O elevador sobe até o 2º pavimento e destranca exclusivamente a porta do 2º andar (%Q0.3 = 0) ao nivelar.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931920"/>
            <a:ext cx="5212080" cy="2194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69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882"/>
                </a:solidFill>
              </a:defRPr>
            </a:pPr>
            <a:r>
              <a:t>MODO 4: Chamada Externa para o 1º Piso</a:t>
            </a:r>
          </a:p>
          <a:p>
            <a:pPr>
              <a:defRPr sz="1150">
                <a:solidFill>
                  <a:srgbClr val="0F172A"/>
                </a:solidFill>
              </a:defRPr>
            </a:pPr>
            <a:r>
              <a:t>• Elevador parado no 2º piso com portas fechadas.</a:t>
            </a:r>
            <a:br/>
            <a:r>
              <a:t>• Pressionar 'Botão Desce 1' (%I0.1) no painel do 1º andar (chamada externa).</a:t>
            </a:r>
            <a:br/>
            <a:r>
              <a:t>• O elevador desce até o 1º pavimento e destranca exclusivamente a porta do 1º andar (%Q0.2 = 0) ao nivelar.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114800" cy="329184"/>
          </a:xfrm>
          <a:prstGeom prst="roundRect">
            <a:avLst/>
          </a:prstGeom>
          <a:solidFill>
            <a:srgbClr val="005C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FERRAMENTA DE APOIO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49808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0F172A"/>
                </a:solidFill>
              </a:defRPr>
            </a:pPr>
            <a:r>
              <a:t>Simulador Gráfico SCADA: Teste Antes de Descarregar no CLP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47548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389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5CA9"/>
                </a:solidFill>
              </a:defRPr>
            </a:pPr>
            <a:r>
              <a:t>Recursos do Simulador SCADA</a:t>
            </a:r>
          </a:p>
          <a:p>
            <a:r>
              <a:rPr b="1" sz="1200">
                <a:solidFill>
                  <a:srgbClr val="0F172A"/>
                </a:solidFill>
              </a:rPr>
              <a:t>• Visualização Industrial 2D:</a:t>
            </a:r>
            <a:r>
              <a:rPr sz="1200">
                <a:solidFill>
                  <a:srgbClr val="475569"/>
                </a:solidFill>
              </a:rPr>
              <a:t> Animação fluida da cabine, portas e indicadores de nivelamento em tempo real.</a:t>
            </a:r>
          </a:p>
          <a:p>
            <a:r>
              <a:rPr b="1" sz="1200">
                <a:solidFill>
                  <a:srgbClr val="0F172A"/>
                </a:solidFill>
              </a:rPr>
              <a:t>• Painel de Botoeiras Industriais:</a:t>
            </a:r>
            <a:r>
              <a:rPr sz="1200">
                <a:solidFill>
                  <a:srgbClr val="475569"/>
                </a:solidFill>
              </a:rPr>
              <a:t> Permite comandar subida, descida e abertura manual de portas para testes de estresse.</a:t>
            </a:r>
          </a:p>
          <a:p>
            <a:r>
              <a:rPr b="1" sz="1200">
                <a:solidFill>
                  <a:srgbClr val="0F172A"/>
                </a:solidFill>
              </a:rPr>
              <a:t>• Painel de Diagnóstico SCADA:</a:t>
            </a:r>
            <a:r>
              <a:rPr sz="1200">
                <a:solidFill>
                  <a:srgbClr val="475569"/>
                </a:solidFill>
              </a:rPr>
              <a:t> Exibe o status dos contatores K1/K2, integridade NR-12 e estado das travas magnéticas.</a:t>
            </a:r>
          </a:p>
          <a:p>
            <a:r>
              <a:rPr b="1" sz="1200">
                <a:solidFill>
                  <a:srgbClr val="0F172A"/>
                </a:solidFill>
              </a:rPr>
              <a:t>• Botão Reset da Planta:</a:t>
            </a:r>
            <a:r>
              <a:rPr sz="1200">
                <a:solidFill>
                  <a:srgbClr val="475569"/>
                </a:solidFill>
              </a:rPr>
              <a:t> Permite retornar a cabine e as portas à condição inicial em 1 clique.</a:t>
            </a:r>
          </a:p>
          <a:p>
            <a:r>
              <a:rPr b="1" sz="1200">
                <a:solidFill>
                  <a:srgbClr val="0F172A"/>
                </a:solidFill>
              </a:rPr>
              <a:t>• Executável Standalone (.exe):</a:t>
            </a:r>
            <a:r>
              <a:rPr sz="1200">
                <a:solidFill>
                  <a:srgbClr val="475569"/>
                </a:solidFill>
              </a:rPr>
              <a:t> Roda direto no Windows da sala de aula sem precisar instalar Python.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508760"/>
            <a:ext cx="5669280" cy="4754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0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review_elev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45920"/>
            <a:ext cx="53949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4572000" cy="34747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ROTEIRO PRÁTICO DE LABORATÓRIO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Passo a Passo para a Implementação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36576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078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882"/>
                </a:solidFill>
              </a:defRPr>
            </a:pPr>
            <a:r>
              <a:t>PASSO 1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Mapeamento das Tags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Importar a tabela CSV de tags no TIA Portal.</a:t>
            </a:r>
            <a:br/>
            <a:r>
              <a:t>Configurar os endereços de entrada e saída rigorosamente conforme a especificação.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1828800"/>
            <a:ext cx="2468880" cy="36576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DC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20574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DC5A00"/>
                </a:solidFill>
              </a:defRPr>
            </a:pPr>
            <a:r>
              <a:t>PASSO 2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Lógica &amp; Segurança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Programar a lógica com máquina de estados.</a:t>
            </a:r>
            <a:br/>
            <a:r>
              <a:t>Implementar as travas elétricas, os contatores e a inversão correta dos sensores NF.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08192" y="1828800"/>
            <a:ext cx="2468880" cy="36576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005C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20574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5CA9"/>
                </a:solidFill>
              </a:defRPr>
            </a:pPr>
            <a:r>
              <a:t>PASSO 3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Simulação SCADA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Testar todos os 4 modos operacionais no simulador.</a:t>
            </a:r>
            <a:br/>
            <a:r>
              <a:t>Simular abertura de porta em movimento para validar a parada de emergência NR-12.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6528" y="1828800"/>
            <a:ext cx="2468880" cy="365760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9408" y="2057400"/>
            <a:ext cx="2103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6A34A"/>
                </a:solidFill>
              </a:defRPr>
            </a:pPr>
            <a:r>
              <a:t>PASSO 4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Comissionamento Real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Carregar o código no CLP físico Siemens S7-1200.</a:t>
            </a:r>
            <a:br/>
            <a:r>
              <a:t>Operar na bancada didática e validar cada botão e sensor com a fiação real.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i="1">
                <a:solidFill>
                  <a:srgbClr val="94A3B8"/>
                </a:solidFill>
              </a:defRPr>
            </a:pPr>
            <a:r>
              <a:t>💡 'A excelência na automação nasce da clareza da lógica e do compromisso inegociável com a segurança.' Mãos à obra!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